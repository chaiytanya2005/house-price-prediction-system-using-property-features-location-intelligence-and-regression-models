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Manrope" panose="020B0604020202020204" charset="0"/>
      <p:regular r:id="rId14"/>
    </p:embeddedFont>
    <p:embeddedFont>
      <p:font typeface="Manrop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66EF2-B297-4394-963F-43675BE2F5EF}" v="2" dt="2026-09-30T16:17:41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Reddy" userId="fe8449e3669b3f49" providerId="LiveId" clId="{69B5040E-641B-4DC5-8BC9-C86ECD336022}"/>
    <pc:docChg chg="modSld">
      <pc:chgData name="Ajay Reddy" userId="fe8449e3669b3f49" providerId="LiveId" clId="{69B5040E-641B-4DC5-8BC9-C86ECD336022}" dt="2026-09-30T16:18:41.703" v="51" actId="20577"/>
      <pc:docMkLst>
        <pc:docMk/>
      </pc:docMkLst>
      <pc:sldChg chg="addSp delSp modSp mod">
        <pc:chgData name="Ajay Reddy" userId="fe8449e3669b3f49" providerId="LiveId" clId="{69B5040E-641B-4DC5-8BC9-C86ECD336022}" dt="2026-09-30T16:18:41.703" v="51" actId="20577"/>
        <pc:sldMkLst>
          <pc:docMk/>
          <pc:sldMk cId="0" sldId="256"/>
        </pc:sldMkLst>
        <pc:spChg chg="add del mod">
          <ac:chgData name="Ajay Reddy" userId="fe8449e3669b3f49" providerId="LiveId" clId="{69B5040E-641B-4DC5-8BC9-C86ECD336022}" dt="2026-09-30T16:17:39.588" v="3"/>
          <ac:spMkLst>
            <pc:docMk/>
            <pc:sldMk cId="0" sldId="256"/>
            <ac:spMk id="11" creationId="{AADA59CA-D8C3-9CA4-3D88-73E570D36C0F}"/>
          </ac:spMkLst>
        </pc:spChg>
        <pc:spChg chg="add mod">
          <ac:chgData name="Ajay Reddy" userId="fe8449e3669b3f49" providerId="LiveId" clId="{69B5040E-641B-4DC5-8BC9-C86ECD336022}" dt="2026-09-30T16:18:41.703" v="51" actId="20577"/>
          <ac:spMkLst>
            <pc:docMk/>
            <pc:sldMk cId="0" sldId="256"/>
            <ac:spMk id="12" creationId="{A3F73B6E-894F-6BC7-0CB9-51F8006740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84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948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House Price Prediction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Leveraging </a:t>
            </a: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Property Features, Location Intelligence, and Regression Models</a:t>
            </a: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deliver accurate, data-driven residential property valuations for buyers, sellers, and real estate professionals.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212131" cy="215354"/>
          </a:xfrm>
          <a:prstGeom prst="roundRect">
            <a:avLst>
              <a:gd name="adj" fmla="val 47398"/>
            </a:avLst>
          </a:prstGeom>
          <a:solidFill>
            <a:srgbClr val="FFD7CC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75806"/>
            <a:ext cx="149922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79091" y="3433316"/>
            <a:ext cx="1452042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64147" y="3475806"/>
            <a:ext cx="17391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ESTATE ANALYTICS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301975" y="3433316"/>
            <a:ext cx="1474068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7030" y="3475806"/>
            <a:ext cx="17611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LOCATION INTELLIGENCE</a:t>
            </a:r>
            <a:endParaRPr lang="en-US" sz="8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73B6E-894F-6BC7-0CB9-51F8006740EF}"/>
              </a:ext>
            </a:extLst>
          </p:cNvPr>
          <p:cNvSpPr txBox="1"/>
          <p:nvPr/>
        </p:nvSpPr>
        <p:spPr>
          <a:xfrm>
            <a:off x="672326" y="3917852"/>
            <a:ext cx="2816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Name: M.CHAITANYA</a:t>
            </a:r>
          </a:p>
          <a:p>
            <a:r>
              <a:rPr lang="en-IN" sz="1200" b="1" dirty="0"/>
              <a:t>Regno</a:t>
            </a:r>
            <a:r>
              <a:rPr lang="en-IN" sz="1200" b="1"/>
              <a:t>:-323129510064</a:t>
            </a:r>
            <a:endParaRPr lang="en-IN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Valuation Problem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2106737"/>
            <a:ext cx="269155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Residential property valuation remains </a:t>
            </a:r>
            <a:r>
              <a:rPr lang="en-US" sz="8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highly manual, subjective, and inconsistent</a:t>
            </a: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Multiple interdependent factors make accurate pricing a persistent challenge for all market participants.</a:t>
            </a:r>
            <a:endParaRPr lang="en-US" sz="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028182"/>
            <a:ext cx="2668414" cy="7155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429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Assessments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69429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Appraisals rely on expert opinion, introducing bias and variability.</a:t>
            </a:r>
            <a:endParaRPr lang="en-US" sz="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756" y="4028182"/>
            <a:ext cx="2668414" cy="7155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11066" y="4144342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Volatility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3411066" y="4347493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 fluctuations render static valuations quickly outdated.</a:t>
            </a:r>
            <a:endParaRPr lang="en-US" sz="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9393" y="4028182"/>
            <a:ext cx="2668488" cy="7155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52704" y="4144342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Multi-Factor Complexity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152704" y="4347493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Location, size, amenities, and infrastructure interact in non-linear ways.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 vs. Proposed Solution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412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a New Approach?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93169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methods cannot scale to meet modern real estate demands. Our proposed system replaces guesswork with </a:t>
            </a: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predictive intelligence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analyzing thousands of historical transactions, property attributes, and geographic signals to estimate market value with statistical rigor.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665911" y="2801169"/>
            <a:ext cx="3986733" cy="281285"/>
          </a:xfrm>
          <a:prstGeom prst="roundRect">
            <a:avLst>
              <a:gd name="adj" fmla="val 23389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985" y="2895154"/>
            <a:ext cx="91306" cy="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3366" y="2853258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is designed to assist — not replace — professional judgment, providing a reliable data-backed starting point for every valuation.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740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Objectives &amp; Key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43905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90427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619" y="150733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95746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Valuation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263973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 property prices using trained regression models with measurable error metrics.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43905"/>
            <a:ext cx="4005039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90427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50733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95746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Intelligence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263973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Incorporate geographic factors — proximity to amenities, schools, and transit — into pricing.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Trend Analysis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Visualize historical price trends and comparative market analysis for informed decisions.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20217"/>
          </a:xfrm>
          <a:prstGeom prst="roundRect">
            <a:avLst>
              <a:gd name="adj" fmla="val 787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FF70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Multi-Role Access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Support Buyers, Sellers, Agents, and Administrators with tailored dashboards and tools.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38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Roles &amp; System Access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20391"/>
            <a:ext cx="838200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35771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42283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properties, view predicted prices, compare listings, and access market trend reports.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820391"/>
            <a:ext cx="838200" cy="83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83577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42283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List properties, receive ML-based price estimates, and track listing performance.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820391"/>
            <a:ext cx="838200" cy="838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83577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Estate Agent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42283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 multiple listings, generate client reports, and access comparative market analysis.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820391"/>
            <a:ext cx="838200" cy="838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83577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42283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Manage users, monitor system health, oversee ML model retraining, and configure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Pipeline &amp; Machine Learning 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end-to-end pipeline transforms raw, heterogeneous real estate data into reliable price predictions — with each stage validated for data quality and model accuracy before production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143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Regression Models &amp; Performance Metrics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61430"/>
            <a:ext cx="3943499" cy="28385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9145" y="951012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Metrics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09145" y="1203573"/>
            <a:ext cx="39434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performance is measured across four key indicators to ensure prediction reliability: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09145" y="1603623"/>
            <a:ext cx="3943499" cy="510332"/>
          </a:xfrm>
          <a:prstGeom prst="roundRect">
            <a:avLst>
              <a:gd name="adj" fmla="val 19142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641" y="1758553"/>
            <a:ext cx="135657" cy="1084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61793" y="1705496"/>
            <a:ext cx="34823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XGBoost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consistently outperforms other models, achieving the highest R² score on test data.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96119" y="3986882"/>
            <a:ext cx="2661865" cy="752475"/>
          </a:xfrm>
          <a:prstGeom prst="roundRect">
            <a:avLst>
              <a:gd name="adj" fmla="val 1298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9377" y="4100140"/>
            <a:ext cx="243534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9377" y="4319513"/>
            <a:ext cx="24353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Absolute Error — average prediction deviation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41030" y="3986882"/>
            <a:ext cx="2661865" cy="752475"/>
          </a:xfrm>
          <a:prstGeom prst="roundRect">
            <a:avLst>
              <a:gd name="adj" fmla="val 1298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54288" y="4100140"/>
            <a:ext cx="243534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354288" y="4319513"/>
            <a:ext cx="24353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Root Mean Squared Error — penalizes large errors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985942" y="3986882"/>
            <a:ext cx="2661865" cy="752475"/>
          </a:xfrm>
          <a:prstGeom prst="roundRect">
            <a:avLst>
              <a:gd name="adj" fmla="val 12982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99200" y="4100140"/>
            <a:ext cx="243534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099200" y="4319513"/>
            <a:ext cx="243534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Variance explained — model fit quality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&amp; Data Flow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468240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Three-Tier Architecture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663232" y="2614389"/>
            <a:ext cx="3989412" cy="31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Presentation Layer: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React.js web interface with responsive dashboards for all user roles.</a:t>
            </a:r>
            <a:endParaRPr lang="en-US" sz="550" dirty="0"/>
          </a:p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Application Layer: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Python Flask/FastAPI backend hosting ML models, business logic, and REST APIs.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Data Layer:</a:t>
            </a: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PostgreSQL for structured data, Redis for caching, and GeoServer for spatial queries.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775485"/>
            <a:ext cx="106263" cy="1062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4773290"/>
            <a:ext cx="382339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DFD Level 0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726430" y="4905226"/>
            <a:ext cx="382339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→ System → Prediction Output</a:t>
            </a:r>
            <a:endParaRPr lang="en-US" sz="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667" y="4775485"/>
            <a:ext cx="106263" cy="1062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24413" y="4773290"/>
            <a:ext cx="382346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DFD Level 1</a:t>
            </a:r>
            <a:endParaRPr lang="en-US" sz="650" dirty="0"/>
          </a:p>
        </p:txBody>
      </p:sp>
      <p:sp>
        <p:nvSpPr>
          <p:cNvPr id="11" name="Text 6"/>
          <p:cNvSpPr/>
          <p:nvPr/>
        </p:nvSpPr>
        <p:spPr>
          <a:xfrm>
            <a:off x="4824413" y="4905226"/>
            <a:ext cx="382346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validation → Feature extraction → Model inference → Report generation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 &amp; Security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10233"/>
            <a:ext cx="5211589" cy="2953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1013" y="1811610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Technologies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61013" y="2000101"/>
            <a:ext cx="2691557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Features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961013" y="2232571"/>
            <a:ext cx="2691557" cy="77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JWT-based authentication with role-based access control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TLS encryption for data in transit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Input validation and SQL injection prevention</a:t>
            </a:r>
            <a:endParaRPr lang="en-US" sz="800" dirty="0"/>
          </a:p>
          <a:p>
            <a:pPr marL="162560" indent="-16256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logging for all administrative actions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4028182"/>
            <a:ext cx="1982986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279" y="4144342"/>
            <a:ext cx="175066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2279" y="4347493"/>
            <a:ext cx="175066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Python, Flask/FastAPI, Scikit-learn, XGBoost, Pandas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52328" y="4028182"/>
            <a:ext cx="1983060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8488" y="4144342"/>
            <a:ext cx="175074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68488" y="4347493"/>
            <a:ext cx="175074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React.js, Chart.js, Leaflet.js (maps)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08612" y="4028182"/>
            <a:ext cx="1982986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24772" y="4144342"/>
            <a:ext cx="175066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24772" y="4347493"/>
            <a:ext cx="1750665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PostgreSQL, PostGIS, Redis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664821" y="4028182"/>
            <a:ext cx="1983060" cy="715566"/>
          </a:xfrm>
          <a:prstGeom prst="roundRect">
            <a:avLst>
              <a:gd name="adj" fmla="val 12816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80981" y="4144342"/>
            <a:ext cx="175074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DevOps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80981" y="4347493"/>
            <a:ext cx="1750740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AWS/GCP, Docker, CI/CD Pipelines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304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Advantages, Applications &amp; Future Roadmap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3925119" y="1215405"/>
            <a:ext cx="2321496" cy="1561430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36144" y="1326431"/>
            <a:ext cx="209944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Advantages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036144" y="1540297"/>
            <a:ext cx="2099444" cy="1125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Reduced dependence on manual appraisals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Improved pricing accuracy and transparency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Scalable across cities and property types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market trend visibility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326312" y="1215405"/>
            <a:ext cx="2321570" cy="1561430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37" y="1326431"/>
            <a:ext cx="209951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37337" y="1540297"/>
            <a:ext cx="2099518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Residential property portals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Bank mortgage and loan assessment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Government land valuation systems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 estate investment analysis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925119" y="2856533"/>
            <a:ext cx="4722763" cy="1114946"/>
          </a:xfrm>
          <a:prstGeom prst="roundRect">
            <a:avLst>
              <a:gd name="adj" fmla="val 8583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36144" y="2967558"/>
            <a:ext cx="450071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36144" y="3181424"/>
            <a:ext cx="4500711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Deep learning with CNN for image-based features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API integration with listing platforms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Mobile application with AR property view</a:t>
            </a:r>
            <a:endParaRPr lang="en-US" sz="800" dirty="0"/>
          </a:p>
          <a:p>
            <a:pPr marL="162560" indent="-162560" algn="l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Predictive analytics for investment forecasting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925119" y="4061147"/>
            <a:ext cx="4722763" cy="651049"/>
          </a:xfrm>
          <a:prstGeom prst="roundRect">
            <a:avLst>
              <a:gd name="adj" fmla="val 14698"/>
            </a:avLst>
          </a:prstGeom>
          <a:solidFill>
            <a:srgbClr val="B6FCB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382" y="4205734"/>
            <a:ext cx="132904" cy="1062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70549" y="4167411"/>
            <a:ext cx="4271070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Expected Outcome: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production-ready, ML-powered valuation system that empowers stakeholders with accurate, transparent, and actionable property price insights — transforming how real estate decisions are made.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705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Manrope Bold</vt:lpstr>
      <vt:lpstr>Inter</vt:lpstr>
      <vt:lpstr>Manrope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Ajay Reddy</cp:lastModifiedBy>
  <cp:revision>2</cp:revision>
  <dcterms:created xsi:type="dcterms:W3CDTF">2026-07-28T05:35:18Z</dcterms:created>
  <dcterms:modified xsi:type="dcterms:W3CDTF">2026-10-01T08:06:04Z</dcterms:modified>
</cp:coreProperties>
</file>